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ORY">
    <p:bg>
      <p:bgPr>
        <a:solidFill>
          <a:srgbClr val="09080B"/>
        </a:solidFill>
      </p:bgPr>
    </p:bg>
    <p:spTree>
      <p:nvGrpSpPr>
        <p:cNvPr id="1" name=""/>
        <p:cNvGrpSpPr/>
        <p:nvPr/>
      </p:nvGrpSpPr>
      <p:grpSpPr>
        <a:xfrm>
          <a:off x="0" y="0"/>
          <a:ext cx="0" cy="0"/>
          <a:chOff x="0" y="0"/>
          <a:chExt cx="0" cy="0"/>
        </a:xfrm>
      </p:grpSpPr>
      <p:sp>
        <p:nvSpPr>
          <p:cNvPr id="2" name="Shape 0"/>
          <p:cNvSpPr/>
          <p:nvPr/>
        </p:nvSpPr>
        <p:spPr>
          <a:xfrm>
            <a:off x="502920" y="384048"/>
            <a:ext cx="502920" cy="0"/>
          </a:xfrm>
          <a:prstGeom prst="line">
            <a:avLst/>
          </a:prstGeom>
          <a:noFill/>
          <a:ln w="38100">
            <a:solidFill>
              <a:srgbClr val="A7162B"/>
            </a:solidFill>
            <a:prstDash val="solid"/>
          </a:ln>
        </p:spPr>
      </p:sp>
      <p:sp>
        <p:nvSpPr>
          <p:cNvPr id="3" name="Text 1"/>
          <p:cNvSpPr/>
          <p:nvPr/>
        </p:nvSpPr>
        <p:spPr>
          <a:xfrm>
            <a:off x="1078992" y="219456"/>
            <a:ext cx="4114800" cy="320040"/>
          </a:xfrm>
          <a:prstGeom prst="rect">
            <a:avLst/>
          </a:prstGeom>
          <a:noFill/>
          <a:ln/>
        </p:spPr>
        <p:txBody>
          <a:bodyPr wrap="square" rtlCol="0" anchor="ctr"/>
          <a:lstStyle/>
          <a:p>
            <a:pPr indent="0" marL="0">
              <a:buNone/>
            </a:pPr>
            <a:r>
              <a:rPr lang="en-US" sz="1000" b="1" spc="200" kern="0" dirty="0">
                <a:solidFill>
                  <a:srgbClr val="CDA8F5"/>
                </a:solidFill>
                <a:latin typeface="Aptos" pitchFamily="34" charset="0"/>
                <a:ea typeface="Aptos" pitchFamily="34" charset="-122"/>
                <a:cs typeface="Aptos" pitchFamily="34" charset="-120"/>
              </a:rPr>
              <a:t>ARCHIVO SOBRENATURAL</a:t>
            </a:r>
            <a:endParaRPr lang="en-US" sz="1000" dirty="0"/>
          </a:p>
        </p:txBody>
      </p:sp>
      <p:sp>
        <p:nvSpPr>
          <p:cNvPr id="4" name="Text 2"/>
          <p:cNvSpPr/>
          <p:nvPr/>
        </p:nvSpPr>
        <p:spPr>
          <a:xfrm>
            <a:off x="10424160" y="6446520"/>
            <a:ext cx="1143000" cy="201168"/>
          </a:xfrm>
          <a:prstGeom prst="rect">
            <a:avLst/>
          </a:prstGeom>
          <a:noFill/>
          <a:ln/>
        </p:spPr>
        <p:txBody>
          <a:bodyPr wrap="square" rtlCol="0" anchor="ctr"/>
          <a:lstStyle/>
          <a:p>
            <a:pPr algn="r" indent="0" marL="0">
              <a:buNone/>
            </a:pPr>
            <a:r>
              <a:rPr lang="en-US" sz="800" b="1" dirty="0">
                <a:solidFill>
                  <a:srgbClr val="796E75"/>
                </a:solidFill>
                <a:latin typeface="Aptos" pitchFamily="34" charset="0"/>
                <a:ea typeface="Aptos" pitchFamily="34" charset="-122"/>
                <a:cs typeface="Aptos" pitchFamily="34" charset="-120"/>
              </a:rPr>
              <a:t>VAMPIRE</a:t>
            </a:r>
            <a:endParaRPr lang="en-US" sz="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80B"/>
        </a:solidFill>
      </p:bgPr>
    </p:bg>
    <p:spTree>
      <p:nvGrpSpPr>
        <p:cNvPr id="1" name=""/>
        <p:cNvGrpSpPr/>
        <p:nvPr/>
      </p:nvGrpSpPr>
      <p:grpSpPr>
        <a:xfrm>
          <a:off x="0" y="0"/>
          <a:ext cx="0" cy="0"/>
          <a:chOff x="0" y="0"/>
          <a:chExt cx="0" cy="0"/>
        </a:xfrm>
      </p:grpSpPr>
      <p:pic>
        <p:nvPicPr>
          <p:cNvPr id="2" name="Image 0" descr="D:\Alexis\Sitios Webs\Vampinfo Completa\seres_sobrenaturales\public\images\historia\origenes.jpg">    </p:cNvPr>
          <p:cNvPicPr>
            <a:picLocks noChangeAspect="1"/>
          </p:cNvPicPr>
          <p:nvPr/>
        </p:nvPicPr>
        <p:blipFill>
          <a:blip r:embed="rId1"/>
          <a:stretch>
            <a:fillRect/>
          </a:stretch>
        </p:blipFill>
        <p:spPr>
          <a:xfrm>
            <a:off x="6812280" y="0"/>
            <a:ext cx="5376672" cy="6858000"/>
          </a:xfrm>
          <a:prstGeom prst="rect">
            <a:avLst/>
          </a:prstGeom>
        </p:spPr>
      </p:pic>
      <p:sp>
        <p:nvSpPr>
          <p:cNvPr id="3" name="Shape 0"/>
          <p:cNvSpPr/>
          <p:nvPr/>
        </p:nvSpPr>
        <p:spPr>
          <a:xfrm>
            <a:off x="5577840" y="0"/>
            <a:ext cx="6629400" cy="6858000"/>
          </a:xfrm>
          <a:prstGeom prst="rect">
            <a:avLst/>
          </a:prstGeom>
          <a:solidFill>
            <a:srgbClr val="09080B">
              <a:alpha val="65000"/>
            </a:srgbClr>
          </a:solidFill>
          <a:ln w="12700">
            <a:solidFill>
              <a:srgbClr val="333333">
                <a:alpha val="0"/>
              </a:srgbClr>
            </a:solidFill>
            <a:prstDash val="solid"/>
          </a:ln>
        </p:spPr>
      </p:sp>
      <p:sp>
        <p:nvSpPr>
          <p:cNvPr id="4" name="Shape 1"/>
          <p:cNvSpPr/>
          <p:nvPr/>
        </p:nvSpPr>
        <p:spPr>
          <a:xfrm>
            <a:off x="685800" y="960120"/>
            <a:ext cx="640080" cy="0"/>
          </a:xfrm>
          <a:prstGeom prst="line">
            <a:avLst/>
          </a:prstGeom>
          <a:noFill/>
          <a:ln w="50800">
            <a:solidFill>
              <a:srgbClr val="D22B48"/>
            </a:solidFill>
            <a:prstDash val="solid"/>
          </a:ln>
        </p:spPr>
      </p:sp>
      <p:sp>
        <p:nvSpPr>
          <p:cNvPr id="5" name="Text 2"/>
          <p:cNvSpPr/>
          <p:nvPr/>
        </p:nvSpPr>
        <p:spPr>
          <a:xfrm>
            <a:off x="1508760" y="786384"/>
            <a:ext cx="4389120" cy="320040"/>
          </a:xfrm>
          <a:prstGeom prst="rect">
            <a:avLst/>
          </a:prstGeom>
          <a:noFill/>
          <a:ln/>
        </p:spPr>
        <p:txBody>
          <a:bodyPr wrap="square" rtlCol="0" anchor="ctr"/>
          <a:lstStyle/>
          <a:p>
            <a:pPr indent="0" marL="0">
              <a:buNone/>
            </a:pPr>
            <a:r>
              <a:rPr lang="en-US" sz="1200" b="1" spc="300" kern="0" dirty="0">
                <a:solidFill>
                  <a:srgbClr val="CDA8F5"/>
                </a:solidFill>
                <a:latin typeface="Aptos" pitchFamily="34" charset="0"/>
                <a:ea typeface="Aptos" pitchFamily="34" charset="-122"/>
                <a:cs typeface="Aptos" pitchFamily="34" charset="-120"/>
              </a:rPr>
              <a:t>CRÓNICA MAYOR</a:t>
            </a:r>
            <a:endParaRPr lang="en-US" sz="1200" dirty="0"/>
          </a:p>
        </p:txBody>
      </p:sp>
      <p:sp>
        <p:nvSpPr>
          <p:cNvPr id="6" name="Text 3"/>
          <p:cNvSpPr/>
          <p:nvPr/>
        </p:nvSpPr>
        <p:spPr>
          <a:xfrm>
            <a:off x="685800" y="1417320"/>
            <a:ext cx="6583680" cy="1508760"/>
          </a:xfrm>
          <a:prstGeom prst="rect">
            <a:avLst/>
          </a:prstGeom>
          <a:noFill/>
          <a:ln/>
        </p:spPr>
        <p:txBody>
          <a:bodyPr wrap="square" lIns="0" tIns="0" rIns="0" bIns="0" rtlCol="0" anchor="ctr"/>
          <a:lstStyle/>
          <a:p>
            <a:pPr indent="0" marL="0">
              <a:buNone/>
            </a:pPr>
            <a:r>
              <a:rPr lang="en-US" sz="3800" b="1" dirty="0">
                <a:solidFill>
                  <a:srgbClr val="F1E9DF"/>
                </a:solidFill>
                <a:latin typeface="Georgia" pitchFamily="34" charset="0"/>
                <a:ea typeface="Georgia" pitchFamily="34" charset="-122"/>
                <a:cs typeface="Georgia" pitchFamily="34" charset="-120"/>
              </a:rPr>
              <a:t>Necromancia vs. Arcano</a:t>
            </a:r>
            <a:endParaRPr lang="en-US" sz="3800" dirty="0"/>
          </a:p>
        </p:txBody>
      </p:sp>
      <p:sp>
        <p:nvSpPr>
          <p:cNvPr id="7" name="Text 4"/>
          <p:cNvSpPr/>
          <p:nvPr/>
        </p:nvSpPr>
        <p:spPr>
          <a:xfrm>
            <a:off x="713232" y="3182112"/>
            <a:ext cx="5303520" cy="960120"/>
          </a:xfrm>
          <a:prstGeom prst="rect">
            <a:avLst/>
          </a:prstGeom>
          <a:noFill/>
          <a:ln/>
        </p:spPr>
        <p:txBody>
          <a:bodyPr wrap="square" lIns="0" tIns="0" rIns="0" bIns="0" rtlCol="0" anchor="ctr">
            <a:normAutofit/>
          </a:bodyPr>
          <a:lstStyle/>
          <a:p>
            <a:pPr indent="0" marL="0">
              <a:buNone/>
            </a:pPr>
            <a:r>
              <a:rPr lang="en-US" sz="1900" dirty="0">
                <a:solidFill>
                  <a:srgbClr val="B7ABB2"/>
                </a:solidFill>
                <a:latin typeface="Aptos" pitchFamily="34" charset="0"/>
                <a:ea typeface="Aptos" pitchFamily="34" charset="-122"/>
                <a:cs typeface="Aptos" pitchFamily="34" charset="-120"/>
              </a:rPr>
              <a:t>La historia de Mrs. Vampira y Manuela, la Bruja Suprema</a:t>
            </a:r>
            <a:endParaRPr lang="en-US" sz="1900" dirty="0"/>
          </a:p>
        </p:txBody>
      </p:sp>
      <p:sp>
        <p:nvSpPr>
          <p:cNvPr id="8" name="Text 5"/>
          <p:cNvSpPr/>
          <p:nvPr/>
        </p:nvSpPr>
        <p:spPr>
          <a:xfrm>
            <a:off x="713232" y="6053328"/>
            <a:ext cx="4389120" cy="32004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CRÓNICAS DE UN UNIVERSO ORIGINAL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1849 — EL ORIGEN</a:t>
            </a:r>
            <a:endParaRPr lang="en-US" sz="1000" dirty="0"/>
          </a:p>
        </p:txBody>
      </p:sp>
      <p:sp>
        <p:nvSpPr>
          <p:cNvPr id="3" name="Text 1"/>
          <p:cNvSpPr/>
          <p:nvPr/>
        </p:nvSpPr>
        <p:spPr>
          <a:xfrm>
            <a:off x="685800" y="1097280"/>
            <a:ext cx="612648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Dos mujeres unidas por una historia que terminaría en guerra</a:t>
            </a:r>
            <a:endParaRPr lang="en-US" sz="2800" dirty="0"/>
          </a:p>
        </p:txBody>
      </p:sp>
      <p:sp>
        <p:nvSpPr>
          <p:cNvPr id="4" name="Shape 2"/>
          <p:cNvSpPr/>
          <p:nvPr/>
        </p:nvSpPr>
        <p:spPr>
          <a:xfrm>
            <a:off x="685800" y="1874520"/>
            <a:ext cx="5760720" cy="0"/>
          </a:xfrm>
          <a:prstGeom prst="line">
            <a:avLst/>
          </a:prstGeom>
          <a:noFill/>
          <a:ln w="12700">
            <a:solidFill>
              <a:srgbClr val="553241"/>
            </a:solidFill>
            <a:prstDash val="solid"/>
          </a:ln>
        </p:spPr>
      </p:sp>
      <p:sp>
        <p:nvSpPr>
          <p:cNvPr id="5" name="Text 3"/>
          <p:cNvSpPr/>
          <p:nvPr/>
        </p:nvSpPr>
        <p:spPr>
          <a:xfrm>
            <a:off x="713232" y="2103120"/>
            <a:ext cx="571500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Una historia de amistad, herencia, secretos familiares y venganza que comienza en el siglo XIX y enfrenta para siempre a la necromancia con el poder arcano.</a:t>
            </a:r>
            <a:endParaRPr lang="en-US" sz="1800" dirty="0"/>
          </a:p>
        </p:txBody>
      </p:sp>
      <p:pic>
        <p:nvPicPr>
          <p:cNvPr id="6" name="Image 0" descr="D:\Alexis\Sitios Webs\Vampinfo Completa\seres_sobrenaturales\public\images\historia\manuelareal.png">    </p:cNvPr>
          <p:cNvPicPr>
            <a:picLocks noChangeAspect="1"/>
          </p:cNvPicPr>
          <p:nvPr/>
        </p:nvPicPr>
        <p:blipFill>
          <a:blip r:embed="rId1"/>
          <a:stretch>
            <a:fillRect/>
          </a:stretch>
        </p:blipFill>
        <p:spPr>
          <a:xfrm>
            <a:off x="6812280" y="1051560"/>
            <a:ext cx="4709160" cy="5074920"/>
          </a:xfrm>
          <a:prstGeom prst="rect">
            <a:avLst/>
          </a:prstGeom>
        </p:spPr>
      </p:pic>
      <p:sp>
        <p:nvSpPr>
          <p:cNvPr id="7" name="Shape 4"/>
          <p:cNvSpPr/>
          <p:nvPr/>
        </p:nvSpPr>
        <p:spPr>
          <a:xfrm>
            <a:off x="6812280" y="1051560"/>
            <a:ext cx="4709160" cy="5074920"/>
          </a:xfrm>
          <a:prstGeom prst="rect">
            <a:avLst/>
          </a:prstGeom>
          <a:solidFill>
            <a:srgbClr val="000000">
              <a:alpha val="0"/>
            </a:srgbClr>
          </a:solidFill>
          <a:ln w="12700">
            <a:solidFill>
              <a:srgbClr val="68364A"/>
            </a:solidFill>
            <a:prstDash val="solid"/>
          </a:ln>
        </p:spPr>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Origenes y leyendas necromanticas</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MUCHOS SE PREGUNTAN:¿QUIÉN ES ESTA EXTRAÑA MUJER VAMPIRO?  ¿QUÉ PASARA CON ELLA?  ¿QUÉ PASARA CON LA BRUJA QUE CONDENO SU MUERTE?  ¿HABRÁ RESUCITADO?  ¿QUIEN ESTA DETRÁS DE TODO ESTO?  ESO NO LO SABEMOS, CONTESTARON LOS MISMOS CIENTIFICOS….</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Esta historia comenzó en el siglo XIX, en el año 1849, existían dos dominios distintos en Europa de esa época, Los reinos de los países del viejo mundo tales como Italia, Francia, Polonia, Alemania y Rusia Occidental formaban lazos de economía, paz y seguridad antes los dominios de España Y del Reino Unido.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Dentro de esta historia se habla de dos familias, una francesa y otra rusa.  El hombre de la familia rusa era el Conde Caleb Mortensen (45), su mujer Makola Mortensen (39) y su única hija Valeriev Mortensen (9).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Por otro lado, está la familia Nodreur de origen Frances: El hombre de la familia Charles Nordreur (42), su mujer Samanta Nordreur (40), y su hija Manuela Nordreur (9).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Caleb era un hombre rígido, estricto, sabio de pocas palabras, pero a veces la furia hace que pueda cometer locuras, él es un vampiro; compone lo necromántico, mucha gente desconoce su identidad, pero es cierto, por las noches acecha a los de la clase baja, a cambio de sangre.</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Makola la mujer de Caleb, era una mujer de origen tártaro muy trabajadora, gastrónoma de platos típicos, ama mucho a su Valeriev, ya que pasa mucho tiempo con ella.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Y la pequeña Valeriev de tan solo 9 años, tiene problemas de nauseas por las noches, su padre le conto un secreto que cuando sea grande está destinada a ser una mujer vampiro.  Pasa menos tiempo con él ya que siempre trabaja en los negocios para la corte del rey de aquella época.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Charles un hombre culto, muy inteligente, de negocios, le gusta pensar y reflexionar cosas de la vida.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Samantha, la mujer de Charles, es una de las dominantes de la hechicería, ya que ella es Bruja y compone lo arcano, le gusta experimentar pociones que pueden ayudar y/o perjudicar a tal persona.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Manuela la pequeña de la familia es mitad humana mitad bruja, ya que heredo los poderes de su madre, cuando esta la descubrió usándola le dijo que tome con precaución de sus poderes de la gente desconocida.  Manuela acertó y decidió no usarlos hasta que crezca y sea adolescente.</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Pero la historia no se trata solo de Caleb ni de Samanta ni de sus parejas, sino de las pequeñas Valeriev Y Manuela que se conocieron en la misma escuela que asistían para poder educarse sobre lo que esta pasando y otras cosas.  Manuela siempre ha sido la mejor amiga de Valeriev, aunque ellas nuncan se confesaron su secreto de que una era vampira y otra una bruja.  Pero se comportaban como unas niñas normales.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Un día Caleb estaba en una reunión importante donde asistió con su esposa, llegaron otros extranjeros de Italia y de Alemania, hasta los mismos Charles Y Samanta estaban presentes.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Al principio todo bien, pero Samanta se dio cuenta que Caleb era un hombre muy peculiar, con una vestimenta muy gótica comparado con ella, su marido le dijo que los rusos son así de vestirse que no hay nada malo en él.  Samanta entonces al finalizar la reunión se acerco a Caleb y dijo: -¿Quién es usted, porque se debe tal atuendo bastante gótico?</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Al decir esto Caleb respondió: -Disculpe señorita, usted porque me pregunta eso está tratando de ligarme.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Caleb se retiro de su vista y Samanta salió pensando con vergüenza mientras se iba de la mansión de los Mortensen junto a su esposo.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Al salir Samanta escucho hablar a unos hombres de la reunión de los otros países que Caleb es un vampiro muy decidido, hombre intachable de gustos finos, se dice que a veces se enoja por cualquier motivo.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Samantha volvió a su casa, despidió a la sirvienta mientras Manuela estudiaba en el comedor, ella le miraba con preocupación y dijo: ¿Mama? , estas bien, que paso con esa reunión que tú y papa asistieron.  Nada hija mía, es el agotamiento de las reuniones políticas tu estudia y se buena niña ok.  Ok.  Dijo Manuela.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Manuela a la mañana siguiente en el colegio le conto a su amiga Valeriev lo que pasaba, ella le dijo que su padre también estaba un poco ido.</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Entonces reconocieron que sus padres estaban en la misma reunión y eso las alegro ya que pueden visitarse para jugar y estudiar cuando quieran.  Mientras las niñas estaban en la escuela, Caleb no dejaba de pensar en Samanta, porque le habría dicho eso, entonces dentro de un rato Samanta le mando una carta diciendo:</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Estimado Sr Caleb Mortensen: Se que me comporte muy mal con usted así que le pido que me acompaña al bar de la ciudad para que tomemos algo, tengo muchas cosas que contarle, no se lo diga a su esposa ni a su hija, esto entre usted y yo.  Atte.  Samanta Nordreur</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Caleb, se fue sin decirle nada a su familia, se reencontró con Samanta, se sentaron platicaron, ella le comento toda la verdad, ella es una bruja, y que sus poderes pueden hacer muchas cosas Maravillosas, hasta le confeso que siente algo profundo por él.</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Caleb se enojo totalmente y le dijo a ella: No lo puedo creer pensé que usted era de fiar , como puede decirme eso , una Bruja , en serio , desde la época de mi ancestro Vlad Drácula , siempre los vampiros fuimos las criaturas mas impresionantes de toda Europa, su magia seguramente es falsa , como puedo estar seguro de eso , las brujas no deben existir , soy el mejor de todos y usted encima me dice que está enamorada de mí , suficiente me voy y pague usted , no la quiero ver en mi reunión jamás y vuelva a su país.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Samanta se molesto por todo eso, pago la cuenta y se fue decepcionada, al llegar se ocultó en el sótano donde su marido y su hija, nunca han entrado, en ese sótano había un caldero burbujeante, un espejo y algunas pertenencias de Samanta.</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Entonces decidió preparar alguna poción y practicar algún hechizo mágico que sirva para combatir con él, Samanta se vengara de el con la muerte por haberla humillado de esa forma y diciendo que los vampiros son unos brutos y descarados, se lleno de enojo y esta decidio terminar con su vida cuando lo vea.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Días después Samanta se dirigió a la Mansión de Caleb sabiendo que los vampiros no pueden morir con pociones de veneno y hechizos mágicos busco una estaca de madera, de camino lo agarro de atrás y le clavo en el pecho diciéndole: -Caleb eres un ignorante, arrogante y un mal vampiro y debes morirte ahora.  Cuando dijo eso Caleb se callo al suelo agonizando y de pronto desapareció dejando una nube negra.  Eso indica que los vampiros al ser asesinado con una estaca, con agua bendita y demás se mueren y su alma se va condenada al más allá.</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Samanta huyo antes que alguien la viese, de repente salió Makola de la Mansión y la vio a lo lejos con la estaca, al darse cuenta miro alrededor que estaba pasando cuando de repente vio una nube negra esparciendo en el aire, esa nube se transformo en el rostro de Caleb diciéndole a su mujer.  “Adiós cariño, cuida de mi hija Valeriev”.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Al escuchar se enteró que Samanta lo había asesinado, entonces se vio obligada a hacer algo contra ella , Mientras Valeriev volvía del colegio vio a su madre triste y le pregunto que había pasado, ella le comento que encontró el alma de su padre y dijo que esta muerto , entonces ella se fue llorando a su habitación , mientras Makola se decía a si misma que mejor no contarle quien fue porque si no sabría que la madre de su mejor amiga era una asesina.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Mientras Samanta huyo de casa dejando una carta a su marido y su hija que tenia que hacerlo para poder proteger su vida.  Charles no entendía bien porque lo hizo, pero Manuela preguntaba por ella y el la consolaba diciendo que se fue de viaje urgente.</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Makola siguió desde su casa hasta donde se refugiaba y ahí, toco la puerta salió Samanta entonces le dio unas cachetadas que la dejo con la cara sangrando en el suelo, se marchó Makola dejándola herida y pensando en lo que había hecho.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Mientras Samanta se reponía, Makola se fue a la casa de Los Nordreur y le dijo el motivo por el que venía a Charles, este se enojó mucho y dijo que su mujer tenía problemas con Caleb, pero no sabía lo que era capaz.  Entonces al marcharse Makola, Charles se alivió ya que mantendrá en secreto a su hija y Makola a la suya también.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Semanas después Samanta pensó a volver a su casa cuando vio a Charles saliendo y de pronto la grito y le dijo por que lo hizo mientras la golpeaba la cara y el cuerpo.  Samanta agonizando dijo que ese vampiro se quería pasar de listo con ella, Charles le reclamaba porque no le contaba lo sucedido entre ellos, ella dijo que no tenía otra solución y la echo de la casa para siempre y nunca vería mas a su hija después de lo ocurrido.</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Necromancia Vs Arcano, La Historia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Samanta llorando sangrientamente se fue a su refugio con una depresión y un remordimiento que nunca podrá curarlo.</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10 AÑOS DESPUES, AÑO 1859</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Han pasado 10 años después de la perdida de Caleb, su mujer estaba haciendo su vida normal como cualquiera, mientras Samanta seguía con el remordimiento.  Las niñas crecieron y ahora son muchachas jóvenes que se juntan y salen por ahí como mejores amigas.  Mientras recordaban la muerte de Caleb y la desaparición de Samanta tristemente.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Manuela ya era una bruja aprendiz y descubrió la llave de la puerta secreta de su madre donde experimento pociones, hechizos mágicos y todo para su defensa cuando tenga algún inconveniente.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Valeriev era una vampira aprendiz que empezó a convertirse en murciélago, sus colmillos crecieron, dejo de comer alimentos humanos y ahora bebe sangre por la noche.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Charles el padre de Manuela, continuo su vida solo como escritor aficionado, seguía publicando y produciendo libros, a pesar de saber que su hija era bruja como su madre siempre le recomendó que no vaya a hacer ninguna locura ni meterse en problemas con la gente.</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10 AÑOS DESPUES, AÑO 1859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Un día Makola llamo a Charles para invitarlo a cenar con el un rato, ya que es el único conocido que tiene a pesar de saber que su mujer era una asesina de vampiros y que Charles sabia de su marido que intentaba pasarse de listo con su mujer no tuvieron ninguna enemistad, más allá de una amistad, cenaban juntos, salían juntos hasta que un día se dieron un beso.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Charles y Makola nunca sabían que ese seria su destino, ni sus hijas lo sabían, el secreto de la causa de la muerte de Caleb y el exilio de Samanta no lo sabrían aún.</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Año 1862</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Pasaron tres años y los solteros padres de las chicas se casaron, Manuela y Valeriev aceptaron su relación, entonces además de amigas se volvieron hermanas, pero esa relación de hermandad terminaría pronto si supieran la verdad del pasado que desconocían.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En la luna de Miel de Charles y Makola ellos decidieron comprar una residencia en el extranjero , eso significa que tuvieron que despedirse para siempre de sus hijas para comenzar una nueva vida.</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Año 1862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Valeriev y Manuela vivieron solas en sus respectivas casas practicando y entrenándose, Manuela se llenaba de conocimiento cada vez preparaba pociones una por una, practicando e inventando nuevos hechizos mágicos para su defensa, como si algún día tuviera que enfrentarse a su mayor enemigo, quien sabe, a partir de allí su nombre cambio de ser Manuela “LA BRUJA SUPREMA”</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Valeriev en su caso , ya tuvo varios atentados contra su dignidad , la gente de su pueblo parecía enojada con ella , ya que les reclamaba por absorber sangre de sus habitantes humanos , pero ella lo hice por instinto no por diversión, así que ella descubrió que a parte de ser vampira tenía alguno toques mágicos en su cuerpo provocando un aura de color morada que decía que necesitaba algo , a la noche siguiente su cuerpo muto bastante , se volvio mas grande en tamaño, su cabello se volvió un negro oscuro , sus dientes mas afilados , su boca y sus ojos un rojo intenso, sus uñas se volvieron negras y largas, se le creció una capa negra con cuello y un vestido rojo, su piel era más pálida ,y entonces a esos grandes cambios fue como el nombre de Valeriev Mortensen quedo en el olvido y se llamo a si misma “MRS VAMPIRA” que significa señorita vampira , hija y descendiente del empalador Vlad Drácula e hizo lo mismo pero en vez de empalar gente esta los acechaba y obligaba a beberles sangre a cambio de su fuerza , ya no era la misma porque tenia a todos bajo su control.</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Año 1866</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Unos años después Manuela se había mudado y llevado las cosas de su madre a una pequeña cabaña, muy lejana en un bosque árido rodeado de cañones montañosos, Manuela se volvía mas sabia y la magia que practicaba era super avanzada, más que su madre.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Mientras Mrs.  Vampira acechaba los habitantes de su pueblo, un hombre ex mandatario y empresario que trabajo con Caleb que sabia de su muerte y sabe el porque Samanta lo asesino se encontró con Mrs.  Vampira y le dijo: - Antes que me mates y absorbes mi sangre tengo que decirte que se la verdad de la muerte de tu padre.  Ella asintió y entonces le explico la razón de que Samanta la bruja de aquel entonces lo mato con una estaca.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Mrs.  Vampira se llenó de furia, entonces le reclamo en donde estaba ella mientras su boca estaba encima del cuello del Mandatario.  Él dijo con nervios que en una cabaña afueras del pueblo.  Al escuchar le absorbió toda la sangre y le arranco el alma mientras lo subcionaba, era la primera muerte violenta que causo Mrs.  Vampira.</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Año 1866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Entonces se marcho de su pueblo dejando a sus habitantes agonizando por las mordidas.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Llego a la cabaña donde se escondía Samanta que ya era una mujer devastada, vieja y andrajosa, Mrs.  Vampira se enojó diciéndole: - Tu, mataste a mi padre, porque porque lo hiciste.  - Eres tu Valeriev, la hija de Caleb, no puedo creer que su hija venga a por mí, los vampiros son nada mas que unos parásitos sin alma, acechan sus presas como carroñeros, haciendo la vida miserable a la gente y a esta pobre bruja.  Dijo Samanta con bronca.  -Eres una mentirosa; dijo Mrs.  Vampira enojándose y se abalanzo sobre Samanta, pero en vez de absorber su sangre le absorbió el ama dejándola muerta sin vida, mientras lo hacia Mrs.  Vampira se fue volando hacia el infinito sin dejar rastro ninguno.</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Año 1869</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Manuela estaba en su pequeña cabaña pensando a cerca de su amiga cuando se le ocurrió ir a visitar a su madre a ver si iba todo bien, no obstante, al llegar a donde ella se refugiaba encontró su cadáver en el suelo, no respiraba y de ella salía un humo gris similar al que Caleb cuando Samanta lo mato, entonces pensó y reafirmo que su madre a sido asesina por su mejor amiga Valeriev Mortensen alias MRS VAMPIRA.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Cuando la joven bruja suprema se entero de esa verdad busco su libro mágico, su varita y se fue al medio del desierto al lado de los cañones, sacudió fuerte la tierra con su varita, miro al cielo, toco la luna con un rayo y dijo: “MRS VAMPIRA escucha mi petición, ve hacia mí, ya lo sé todo, asesinaste a mi madre y por ello pagaras por lo que has hecho”.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Entonces una nube negra cubrió los cielos, salió un murciélago de ella, bajó encima de un árbol muerto y salió un aura morada que transformo al murciélago en la misma MRS VAMPIRA.  - Tú, dijo Mrs.</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Año 1869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Vampira; eres la hija de esa mujer que asesino a mi padre; al escuchar esto Manuela se impacto al escuchar lo que dijo - Como sabes eso, dijo Manuela - Yo se toda la verdad más que tú, así que como soy una poderosa vampira tu alma se ira al infinito y se pudrirá en el mismo infierno como el de tu madre.  Dijo con maldad Mrs. Vampira - Jamás, dijo Manuela, no sabes a quien te enfrentas soy la bruja mas poderosa de estas tierras me entrene con todo lo que mi madre me dejo.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Al decir esto Mrs.  Vampira dio un grito de furia , mientras Manuela preparaba su varita y lanzo un hechizo mientras la vampira lanzaba su magia oscura vampírica , surgiéndose rayos y luces que se bloqueaban una con la otra , después lanzaron varios conjuros más , combatiéndose una con la otra , hasta que Manuela hizo el hechizo de presión mortal , dándole a Mrs.  Vampira en su pecho llevándola al vacío del acantilado , mientras se alejaba Manuela sacudía la tierra y las piedras se fueron cayeron hacia el acantilado aplastando a Mrs.</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749808"/>
            <a:ext cx="2377440" cy="274320"/>
          </a:xfrm>
          <a:prstGeom prst="rect">
            <a:avLst/>
          </a:prstGeom>
          <a:noFill/>
          <a:ln/>
        </p:spPr>
        <p:txBody>
          <a:bodyPr wrap="square" rtlCol="0" anchor="ctr"/>
          <a:lstStyle/>
          <a:p>
            <a:pPr indent="0" marL="0">
              <a:buNone/>
            </a:pPr>
            <a:r>
              <a:rPr lang="en-US" sz="1000" b="1" spc="200" kern="0" dirty="0">
                <a:solidFill>
                  <a:srgbClr val="D22B48"/>
                </a:solidFill>
                <a:latin typeface="Aptos" pitchFamily="34" charset="0"/>
                <a:ea typeface="Aptos" pitchFamily="34" charset="-122"/>
                <a:cs typeface="Aptos" pitchFamily="34" charset="-120"/>
              </a:rPr>
              <a:t>NECROMANCIA VS. ARCANO</a:t>
            </a:r>
            <a:endParaRPr lang="en-US" sz="1000" dirty="0"/>
          </a:p>
        </p:txBody>
      </p:sp>
      <p:sp>
        <p:nvSpPr>
          <p:cNvPr id="3" name="Text 1"/>
          <p:cNvSpPr/>
          <p:nvPr/>
        </p:nvSpPr>
        <p:spPr>
          <a:xfrm>
            <a:off x="685800" y="1097280"/>
            <a:ext cx="10789920" cy="640080"/>
          </a:xfrm>
          <a:prstGeom prst="rect">
            <a:avLst/>
          </a:prstGeom>
          <a:noFill/>
          <a:ln/>
        </p:spPr>
        <p:txBody>
          <a:bodyPr wrap="square" lIns="0" tIns="0" rIns="0" bIns="0" rtlCol="0" anchor="ctr">
            <a:normAutofit/>
          </a:bodyPr>
          <a:lstStyle/>
          <a:p>
            <a:pPr indent="0" marL="0">
              <a:buNone/>
            </a:pPr>
            <a:r>
              <a:rPr lang="en-US" sz="2800" b="1" dirty="0">
                <a:solidFill>
                  <a:srgbClr val="F1E9DF"/>
                </a:solidFill>
                <a:latin typeface="Georgia" pitchFamily="34" charset="0"/>
                <a:ea typeface="Georgia" pitchFamily="34" charset="-122"/>
                <a:cs typeface="Georgia" pitchFamily="34" charset="-120"/>
              </a:rPr>
              <a:t>Año 1869 · continuación</a:t>
            </a:r>
            <a:endParaRPr lang="en-US" sz="2800" dirty="0"/>
          </a:p>
        </p:txBody>
      </p:sp>
      <p:sp>
        <p:nvSpPr>
          <p:cNvPr id="4" name="Shape 2"/>
          <p:cNvSpPr/>
          <p:nvPr/>
        </p:nvSpPr>
        <p:spPr>
          <a:xfrm>
            <a:off x="685800" y="1874520"/>
            <a:ext cx="10789920" cy="0"/>
          </a:xfrm>
          <a:prstGeom prst="line">
            <a:avLst/>
          </a:prstGeom>
          <a:noFill/>
          <a:ln w="12700">
            <a:solidFill>
              <a:srgbClr val="553241"/>
            </a:solidFill>
            <a:prstDash val="solid"/>
          </a:ln>
        </p:spPr>
      </p:sp>
      <p:sp>
        <p:nvSpPr>
          <p:cNvPr id="5" name="Text 3"/>
          <p:cNvSpPr/>
          <p:nvPr/>
        </p:nvSpPr>
        <p:spPr>
          <a:xfrm>
            <a:off x="713232" y="2103120"/>
            <a:ext cx="10652760" cy="3611880"/>
          </a:xfrm>
          <a:prstGeom prst="rect">
            <a:avLst/>
          </a:prstGeom>
          <a:noFill/>
          <a:ln/>
        </p:spPr>
        <p:txBody>
          <a:bodyPr wrap="square" lIns="762" tIns="762" rIns="762" bIns="762" rtlCol="0" anchor="t">
            <a:normAutofit/>
          </a:bodyPr>
          <a:lstStyle/>
          <a:p>
            <a:pPr indent="0" marL="0">
              <a:buNone/>
            </a:pPr>
            <a:r>
              <a:rPr lang="en-US" sz="1800" dirty="0">
                <a:solidFill>
                  <a:srgbClr val="B7ABB2"/>
                </a:solidFill>
                <a:latin typeface="Aptos" pitchFamily="34" charset="0"/>
                <a:ea typeface="Aptos" pitchFamily="34" charset="-122"/>
                <a:cs typeface="Aptos" pitchFamily="34" charset="-120"/>
              </a:rPr>
              <a:t>Vampira sin dejar rastro de su cuerpo.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Al observar el acantilado con las piedras en montón, recordó los momentos felices que vivió en el pasado cuando ellas eran buenas amigas de su niñez y adolescencia.  Manuela invoco una escoba magia y se fue volando deseando no volver nunca más al lugar. </a:t>
            </a:r>
            <a:endParaRPr lang="en-US" sz="1800" dirty="0"/>
          </a:p>
          <a:p>
            <a:pPr indent="0" marL="0">
              <a:buNone/>
            </a:pPr>
            <a:endParaRPr lang="en-US" sz="1800" dirty="0"/>
          </a:p>
          <a:p>
            <a:pPr indent="0" marL="0">
              <a:buNone/>
            </a:pPr>
            <a:r>
              <a:rPr lang="en-US" sz="1800" dirty="0">
                <a:solidFill>
                  <a:srgbClr val="B7ABB2"/>
                </a:solidFill>
                <a:latin typeface="Aptos" pitchFamily="34" charset="0"/>
                <a:ea typeface="Aptos" pitchFamily="34" charset="-122"/>
                <a:cs typeface="Aptos" pitchFamily="34" charset="-120"/>
              </a:rPr>
              <a:t>Lo que Manuela no sabe es que el alma de Mrs Vampira resucito debajo de las piedras subiendo encima del acantilado y se fue volando por todo el desierto hasta buscar una nueva victima a quien introducirle, pero ella seguiría siendo una fantasma de por vida, y hasta el día de hoy nadie la encontró.</a:t>
            </a:r>
            <a:endParaRPr lang="en-US" sz="1800" dirty="0"/>
          </a:p>
        </p:txBody>
      </p:sp>
      <p:sp>
        <p:nvSpPr>
          <p:cNvPr id="25" name="Slide Number Placeholder 0"/>
          <p:cNvSpPr>
            <a:spLocks noGrp="1"/>
          </p:cNvSpPr>
          <p:nvPr>
            <p:ph type="sldNum" sz="quarter" idx="4294967295"/>
          </p:nvPr>
        </p:nvSpPr>
        <p:spPr>
          <a:xfrm>
            <a:off x="11567160" y="6437376"/>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96E75"/>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9080B"/>
        </a:solidFill>
      </p:bgPr>
    </p:bg>
    <p:spTree>
      <p:nvGrpSpPr>
        <p:cNvPr id="1" name=""/>
        <p:cNvGrpSpPr/>
        <p:nvPr/>
      </p:nvGrpSpPr>
      <p:grpSpPr>
        <a:xfrm>
          <a:off x="0" y="0"/>
          <a:ext cx="0" cy="0"/>
          <a:chOff x="0" y="0"/>
          <a:chExt cx="0" cy="0"/>
        </a:xfrm>
      </p:grpSpPr>
      <p:sp>
        <p:nvSpPr>
          <p:cNvPr id="2" name="Shape 0"/>
          <p:cNvSpPr/>
          <p:nvPr/>
        </p:nvSpPr>
        <p:spPr>
          <a:xfrm>
            <a:off x="5394960" y="1234440"/>
            <a:ext cx="1371600" cy="0"/>
          </a:xfrm>
          <a:prstGeom prst="line">
            <a:avLst/>
          </a:prstGeom>
          <a:noFill/>
          <a:ln w="50800">
            <a:solidFill>
              <a:srgbClr val="D22B48"/>
            </a:solidFill>
            <a:prstDash val="solid"/>
          </a:ln>
        </p:spPr>
      </p:sp>
      <p:sp>
        <p:nvSpPr>
          <p:cNvPr id="3" name="Text 1"/>
          <p:cNvSpPr/>
          <p:nvPr/>
        </p:nvSpPr>
        <p:spPr>
          <a:xfrm>
            <a:off x="1371600" y="1874520"/>
            <a:ext cx="9418320" cy="914400"/>
          </a:xfrm>
          <a:prstGeom prst="rect">
            <a:avLst/>
          </a:prstGeom>
          <a:noFill/>
          <a:ln/>
        </p:spPr>
        <p:txBody>
          <a:bodyPr wrap="square" lIns="0" tIns="0" rIns="0" bIns="0" rtlCol="0" anchor="ctr"/>
          <a:lstStyle/>
          <a:p>
            <a:pPr algn="ctr" indent="0" marL="0">
              <a:buNone/>
            </a:pPr>
            <a:r>
              <a:rPr lang="en-US" sz="3600" b="1" dirty="0">
                <a:solidFill>
                  <a:srgbClr val="F1E9DF"/>
                </a:solidFill>
                <a:latin typeface="Georgia" pitchFamily="34" charset="0"/>
                <a:ea typeface="Georgia" pitchFamily="34" charset="-122"/>
                <a:cs typeface="Georgia" pitchFamily="34" charset="-120"/>
              </a:rPr>
              <a:t>El final solo abrió una nueva herida</a:t>
            </a:r>
            <a:endParaRPr lang="en-US" sz="3600" dirty="0"/>
          </a:p>
        </p:txBody>
      </p:sp>
      <p:sp>
        <p:nvSpPr>
          <p:cNvPr id="4" name="Text 2"/>
          <p:cNvSpPr/>
          <p:nvPr/>
        </p:nvSpPr>
        <p:spPr>
          <a:xfrm>
            <a:off x="1920240" y="3108960"/>
            <a:ext cx="8321040" cy="1097280"/>
          </a:xfrm>
          <a:prstGeom prst="rect">
            <a:avLst/>
          </a:prstGeom>
          <a:noFill/>
          <a:ln/>
        </p:spPr>
        <p:txBody>
          <a:bodyPr wrap="square" rtlCol="0" anchor="ctr">
            <a:normAutofit/>
          </a:bodyPr>
          <a:lstStyle/>
          <a:p>
            <a:pPr algn="ctr" indent="0" marL="0">
              <a:buNone/>
            </a:pPr>
            <a:r>
              <a:rPr lang="en-US" sz="2000" dirty="0">
                <a:solidFill>
                  <a:srgbClr val="B7ABB2"/>
                </a:solidFill>
                <a:latin typeface="Aptos" pitchFamily="34" charset="0"/>
                <a:ea typeface="Aptos" pitchFamily="34" charset="-122"/>
                <a:cs typeface="Aptos" pitchFamily="34" charset="-120"/>
              </a:rPr>
              <a:t>La historia de Mrs. Vampira y Manuela permanece como el punto de quiebre entre la necromancia y el poder arcano.</a:t>
            </a:r>
            <a:endParaRPr lang="en-US" sz="2000" dirty="0"/>
          </a:p>
        </p:txBody>
      </p:sp>
      <p:sp>
        <p:nvSpPr>
          <p:cNvPr id="5" name="Text 3"/>
          <p:cNvSpPr/>
          <p:nvPr/>
        </p:nvSpPr>
        <p:spPr>
          <a:xfrm>
            <a:off x="3474720" y="5852160"/>
            <a:ext cx="5212080" cy="320040"/>
          </a:xfrm>
          <a:prstGeom prst="rect">
            <a:avLst/>
          </a:prstGeom>
          <a:noFill/>
          <a:ln/>
        </p:spPr>
        <p:txBody>
          <a:bodyPr wrap="square" rtlCol="0" anchor="ctr"/>
          <a:lstStyle/>
          <a:p>
            <a:pPr algn="ctr" indent="0" marL="0">
              <a:buNone/>
            </a:pPr>
            <a:r>
              <a:rPr lang="en-US" sz="1000" b="1" spc="200" kern="0" dirty="0">
                <a:solidFill>
                  <a:srgbClr val="CDA8F5"/>
                </a:solidFill>
                <a:latin typeface="Aptos" pitchFamily="34" charset="0"/>
                <a:ea typeface="Aptos" pitchFamily="34" charset="-122"/>
                <a:cs typeface="Aptos" pitchFamily="34" charset="-120"/>
              </a:rPr>
              <a:t>ARCHIVO SOBRENATURAL · VAMPIRE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Archivo Sobrenatural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Necromancia vs. Arcano</dc:title>
  <dc:subject>Historia del universo sobrenatural</dc:subject>
  <dc:creator>Vampire - Archivo Sobrenatural</dc:creator>
  <cp:lastModifiedBy>Vampire - Archivo Sobrenatural</cp:lastModifiedBy>
  <cp:revision>1</cp:revision>
  <dcterms:created xsi:type="dcterms:W3CDTF">2026-06-11T16:32:21Z</dcterms:created>
  <dcterms:modified xsi:type="dcterms:W3CDTF">2026-06-11T16:32:21Z</dcterms:modified>
</cp:coreProperties>
</file>